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9A8A"/>
          </a:solidFill>
          <a:ln w="12700">
            <a:solidFill>
              <a:srgbClr val="1F9A8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658368"/>
            <a:ext cx="1783080" cy="347472"/>
          </a:xfrm>
          <a:prstGeom prst="roundRect">
            <a:avLst>
              <a:gd name="adj" fmla="val 15789"/>
            </a:avLst>
          </a:prstGeom>
          <a:solidFill>
            <a:srgbClr val="DDF5EF"/>
          </a:solidFill>
          <a:ln w="12700">
            <a:solidFill>
              <a:srgbClr val="DDF5E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04672" y="749808"/>
            <a:ext cx="1554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6BB2"/>
                </a:solidFill>
                <a:latin typeface="Calibri"/>
              </a:rPr>
              <a:t>STAT 6395 Final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325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4600" b="1">
                <a:solidFill>
                  <a:srgbClr val="1F3152"/>
                </a:solidFill>
                <a:latin typeface="Calibri"/>
              </a:rPr>
              <a:t>Introduction to Statistics
Study App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804672" y="29718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2200">
                <a:solidFill>
                  <a:srgbClr val="4B5569"/>
                </a:solidFill>
                <a:latin typeface="Calibri"/>
              </a:rPr>
              <a:t>A module-based Shiny practice app with retrieval-augmented tutoring, answer-safety guardrails, and visual explanations.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04672" y="5715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lang="en-US" sz="1300" dirty="0">
                <a:solidFill>
                  <a:srgbClr val="4B5569"/>
                </a:solidFill>
                <a:latin typeface="Calibri"/>
              </a:rPr>
              <a:t>Zaid Ghazi  |  R/Shiny • Claude/ellmer • RAG • vitals</a:t>
            </a:r>
            <a:endParaRPr lang="en-US" sz="12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students need help while practicing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0241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questions are fast, but they do not explain; generic chat is flexible, but hard to control.</a:t>
            </a:r>
            <a:endParaRPr lang="en-US" sz="1340" dirty="0"/>
          </a:p>
        </p:txBody>
      </p:sp>
      <p:sp>
        <p:nvSpPr>
          <p:cNvPr id="6" name="Shape 4"/>
          <p:cNvSpPr/>
          <p:nvPr/>
        </p:nvSpPr>
        <p:spPr>
          <a:xfrm>
            <a:off x="777240" y="1600200"/>
            <a:ext cx="32461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96696" y="1874520"/>
            <a:ext cx="585216" cy="585216"/>
          </a:xfrm>
          <a:prstGeom prst="ellipse">
            <a:avLst/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202082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43B63"/>
                </a:solidFill>
              </a:rPr>
              <a:t>1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005840" y="27066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B63"/>
                </a:solidFill>
              </a:rPr>
              <a:t>Static practice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4748B"/>
                </a:solidFill>
              </a:rPr>
              <a:t>Fast checks, limited explanation.</a:t>
            </a:r>
            <a:endParaRPr lang="en-US" sz="1420" dirty="0"/>
          </a:p>
        </p:txBody>
      </p:sp>
      <p:sp>
        <p:nvSpPr>
          <p:cNvPr id="11" name="Shape 9"/>
          <p:cNvSpPr/>
          <p:nvPr/>
        </p:nvSpPr>
        <p:spPr>
          <a:xfrm>
            <a:off x="4526280" y="1600200"/>
            <a:ext cx="32461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45736" y="1874520"/>
            <a:ext cx="585216" cy="585216"/>
          </a:xfrm>
          <a:prstGeom prst="ellipse">
            <a:avLst/>
          </a:prstGeom>
          <a:solidFill>
            <a:srgbClr val="FEECEB"/>
          </a:solidFill>
          <a:ln w="12700">
            <a:solidFill>
              <a:srgbClr val="FEEC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202082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43B63"/>
                </a:solidFill>
              </a:rPr>
              <a:t>2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54880" y="27066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B63"/>
                </a:solidFill>
              </a:rPr>
              <a:t>Generic chatbot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4748B"/>
                </a:solidFill>
              </a:rPr>
              <a:t>Flexible, but may hallucinate or give away answers.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8275320" y="1600200"/>
            <a:ext cx="32461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94776" y="1874520"/>
            <a:ext cx="585216" cy="585216"/>
          </a:xfrm>
          <a:prstGeom prst="ellipse">
            <a:avLst/>
          </a:prstGeom>
          <a:solidFill>
            <a:srgbClr val="DDF5EF"/>
          </a:solidFill>
          <a:ln w="12700">
            <a:solidFill>
              <a:srgbClr val="DDF5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4776" y="202082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43B63"/>
                </a:solidFill>
              </a:rPr>
              <a:t>3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503920" y="27066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B63"/>
                </a:solidFill>
              </a:rPr>
              <a:t>This app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039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4748B"/>
                </a:solidFill>
              </a:rPr>
              <a:t>Guided practice with grounded, answer-safe support.</a:t>
            </a:r>
            <a:endParaRPr lang="en-US" sz="1420" dirty="0"/>
          </a:p>
        </p:txBody>
      </p:sp>
      <p:sp>
        <p:nvSpPr>
          <p:cNvPr id="21" name="Shape 19"/>
          <p:cNvSpPr/>
          <p:nvPr/>
        </p:nvSpPr>
        <p:spPr>
          <a:xfrm>
            <a:off x="1325880" y="5257800"/>
            <a:ext cx="9509760" cy="566928"/>
          </a:xfrm>
          <a:prstGeom prst="roundRect">
            <a:avLst>
              <a:gd name="adj" fmla="val 12903"/>
            </a:avLst>
          </a:prstGeom>
          <a:solidFill>
            <a:srgbClr val="243B63"/>
          </a:solidFill>
          <a:ln w="12700">
            <a:solidFill>
              <a:srgbClr val="243B6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00200" y="5440680"/>
            <a:ext cx="8961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Design goal: help students reason through questions without turning the tutor into an answer machine.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app does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0241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proof-of-concept learning workflow for college introductory statistics.</a:t>
            </a:r>
            <a:endParaRPr lang="en-US" sz="1340" dirty="0"/>
          </a:p>
        </p:txBody>
      </p:sp>
      <p:sp>
        <p:nvSpPr>
          <p:cNvPr id="6" name="Shape 4"/>
          <p:cNvSpPr/>
          <p:nvPr/>
        </p:nvSpPr>
        <p:spPr>
          <a:xfrm>
            <a:off x="868680" y="1508760"/>
            <a:ext cx="48006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24712" y="1709928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DDF5EF"/>
          </a:solidFill>
          <a:ln w="12700">
            <a:solidFill>
              <a:srgbClr val="DDF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97864" y="1796796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63"/>
                </a:solidFill>
              </a:rPr>
              <a:t>Module-based practice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124712" y="222199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Students choose a topic area or cumulative review before starting.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508760"/>
            <a:ext cx="48006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11112" y="1709928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1796796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63"/>
                </a:solidFill>
              </a:rPr>
              <a:t>Audited question bank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11112" y="222199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Questions, options, answers, and feedback are checked before use.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" y="3611880"/>
            <a:ext cx="48006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24712" y="3813048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7864" y="3899916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63"/>
                </a:solidFill>
              </a:rPr>
              <a:t>Contextual tutor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24712" y="432511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Students can ask for a hint or a concept explanation while practicing.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55080" y="3611880"/>
            <a:ext cx="48006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11112" y="3813048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84264" y="3899916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63"/>
                </a:solidFill>
              </a:rPr>
              <a:t>Prototype personalization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611112" y="432511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Progress and review-sheet tabs show future adaptive-learning directions.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51560" y="5577840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DDF5EF"/>
          </a:solidFill>
          <a:ln w="12700">
            <a:solidFill>
              <a:srgbClr val="DDF5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4440" y="5742432"/>
            <a:ext cx="9692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243B63"/>
                </a:solidFill>
              </a:rPr>
              <a:t>The app is intentionally a proof of concept: it demonstrates the architecture and workflow rather than claiming full classroom deployment.</a:t>
            </a:r>
            <a:endParaRPr lang="en-US" sz="1330" dirty="0"/>
          </a:p>
        </p:txBody>
      </p:sp>
      <p:sp>
        <p:nvSpPr>
          <p:cNvPr id="24" name="Shape 22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loop stays simple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0241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practice is deterministic; GenAI is only used where explanation adds value.</a:t>
            </a:r>
            <a:endParaRPr lang="en-US" sz="1340" dirty="0"/>
          </a:p>
        </p:txBody>
      </p:sp>
      <p:sp>
        <p:nvSpPr>
          <p:cNvPr id="6" name="Shape 4"/>
          <p:cNvSpPr/>
          <p:nvPr/>
        </p:nvSpPr>
        <p:spPr>
          <a:xfrm>
            <a:off x="868680" y="155448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41832" y="1627632"/>
            <a:ext cx="1271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88920" y="155448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DDF5E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62072" y="1627632"/>
            <a:ext cx="1271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from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bank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155448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82312" y="1627632"/>
            <a:ext cx="1271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practice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629400" y="155448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702552" y="1627632"/>
            <a:ext cx="1271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549640" y="155448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EAF1FB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22792" y="1627632"/>
            <a:ext cx="1271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286000" y="1874520"/>
            <a:ext cx="50292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06240" y="1874520"/>
            <a:ext cx="50292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26480" y="1874520"/>
            <a:ext cx="50292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046720" y="1874520"/>
            <a:ext cx="50292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709160" y="324612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82312" y="3319272"/>
            <a:ext cx="1271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tutor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stuck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324612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EAF1FB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702552" y="3319272"/>
            <a:ext cx="1271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549640" y="324612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FF7E6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22792" y="3319272"/>
            <a:ext cx="1271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549640" y="470916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DDF5E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622792" y="4782312"/>
            <a:ext cx="1271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tutor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22392" y="2194560"/>
            <a:ext cx="0" cy="1024128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126480" y="3566160"/>
            <a:ext cx="50292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046720" y="3566160"/>
            <a:ext cx="50292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62872" y="3886200"/>
            <a:ext cx="0" cy="795528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51560" y="58064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F9A8A"/>
                </a:solidFill>
              </a:rPr>
              <a:t>Key point for the audience: this is not one giant chatbot. It is a practice app with a controlled LLM support layer.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ROLE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is selective, not the whole engine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309360" y="141732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51560" y="17373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B63"/>
                </a:solidFill>
              </a:rPr>
              <a:t>Fast / local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8992" y="22402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selection</a:t>
            </a:r>
            <a:endParaRPr lang="en-US" sz="1520" dirty="0"/>
          </a:p>
        </p:txBody>
      </p:sp>
      <p:sp>
        <p:nvSpPr>
          <p:cNvPr id="9" name="Text 7"/>
          <p:cNvSpPr/>
          <p:nvPr/>
        </p:nvSpPr>
        <p:spPr>
          <a:xfrm>
            <a:off x="1078992" y="271576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checking</a:t>
            </a:r>
            <a:endParaRPr lang="en-US" sz="1520" dirty="0"/>
          </a:p>
        </p:txBody>
      </p:sp>
      <p:sp>
        <p:nvSpPr>
          <p:cNvPr id="10" name="Text 8"/>
          <p:cNvSpPr/>
          <p:nvPr/>
        </p:nvSpPr>
        <p:spPr>
          <a:xfrm>
            <a:off x="1078992" y="319125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feedback</a:t>
            </a:r>
            <a:endParaRPr lang="en-US" sz="1520" dirty="0"/>
          </a:p>
        </p:txBody>
      </p:sp>
      <p:sp>
        <p:nvSpPr>
          <p:cNvPr id="11" name="Text 9"/>
          <p:cNvSpPr/>
          <p:nvPr/>
        </p:nvSpPr>
        <p:spPr>
          <a:xfrm>
            <a:off x="1078992" y="366674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ggplot-based visuals</a:t>
            </a:r>
            <a:endParaRPr lang="en-US" sz="1520" dirty="0"/>
          </a:p>
        </p:txBody>
      </p:sp>
      <p:sp>
        <p:nvSpPr>
          <p:cNvPr id="12" name="Text 10"/>
          <p:cNvSpPr/>
          <p:nvPr/>
        </p:nvSpPr>
        <p:spPr>
          <a:xfrm>
            <a:off x="1078992" y="414223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and smoke tests</a:t>
            </a:r>
            <a:endParaRPr lang="en-US" sz="1520" dirty="0"/>
          </a:p>
        </p:txBody>
      </p:sp>
      <p:sp>
        <p:nvSpPr>
          <p:cNvPr id="13" name="Text 11"/>
          <p:cNvSpPr/>
          <p:nvPr/>
        </p:nvSpPr>
        <p:spPr>
          <a:xfrm>
            <a:off x="6583680" y="17373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B63"/>
                </a:solidFill>
              </a:rPr>
              <a:t>LLM-assisted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11112" y="22402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explanations</a:t>
            </a:r>
            <a:endParaRPr lang="en-US" sz="1520" dirty="0"/>
          </a:p>
        </p:txBody>
      </p:sp>
      <p:sp>
        <p:nvSpPr>
          <p:cNvPr id="15" name="Text 13"/>
          <p:cNvSpPr/>
          <p:nvPr/>
        </p:nvSpPr>
        <p:spPr>
          <a:xfrm>
            <a:off x="6611112" y="271576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questions</a:t>
            </a:r>
            <a:endParaRPr lang="en-US" sz="1520" dirty="0"/>
          </a:p>
        </p:txBody>
      </p:sp>
      <p:sp>
        <p:nvSpPr>
          <p:cNvPr id="16" name="Text 14"/>
          <p:cNvSpPr/>
          <p:nvPr/>
        </p:nvSpPr>
        <p:spPr>
          <a:xfrm>
            <a:off x="6611112" y="319125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tutor responses</a:t>
            </a:r>
            <a:endParaRPr lang="en-US" sz="1520" dirty="0"/>
          </a:p>
        </p:txBody>
      </p:sp>
      <p:sp>
        <p:nvSpPr>
          <p:cNvPr id="17" name="Text 15"/>
          <p:cNvSpPr/>
          <p:nvPr/>
        </p:nvSpPr>
        <p:spPr>
          <a:xfrm>
            <a:off x="6611112" y="366674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development-time question generation</a:t>
            </a:r>
            <a:endParaRPr lang="en-US" sz="1520" dirty="0"/>
          </a:p>
        </p:txBody>
      </p:sp>
      <p:sp>
        <p:nvSpPr>
          <p:cNvPr id="18" name="Text 16"/>
          <p:cNvSpPr/>
          <p:nvPr/>
        </p:nvSpPr>
        <p:spPr>
          <a:xfrm>
            <a:off x="6611112" y="414223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vitals-style evaluation</a:t>
            </a:r>
            <a:endParaRPr lang="en-US" sz="1520" dirty="0"/>
          </a:p>
        </p:txBody>
      </p:sp>
      <p:sp>
        <p:nvSpPr>
          <p:cNvPr id="19" name="Shape 17"/>
          <p:cNvSpPr/>
          <p:nvPr/>
        </p:nvSpPr>
        <p:spPr>
          <a:xfrm>
            <a:off x="1325880" y="5806440"/>
            <a:ext cx="9464040" cy="438912"/>
          </a:xfrm>
          <a:prstGeom prst="roundRect">
            <a:avLst>
              <a:gd name="adj" fmla="val 16667"/>
            </a:avLst>
          </a:prstGeom>
          <a:solidFill>
            <a:srgbClr val="DDF5EF"/>
          </a:solidFill>
          <a:ln w="12700">
            <a:solidFill>
              <a:srgbClr val="DDF5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08760" y="5943600"/>
            <a:ext cx="9098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3B63"/>
                </a:solidFill>
              </a:rPr>
              <a:t>Result: fewer unnecessary API calls, better latency, and more predictable behavior.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keeps tutoring grounded in course-aligned evidence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137160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DDF5E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1832" y="1444752"/>
            <a:ext cx="25968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request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977640" y="1527048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hint, concept help, or follow-up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40280" y="1874520"/>
            <a:ext cx="0" cy="301752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68680" y="219456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41832" y="2267712"/>
            <a:ext cx="25968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question context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77640" y="2350008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module, topic, concept tag, prompt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240280" y="2697480"/>
            <a:ext cx="0" cy="301752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68680" y="30175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41832" y="3090672"/>
            <a:ext cx="25968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normalization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977640" y="3172968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aliases, notation, misspellings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240280" y="3520440"/>
            <a:ext cx="0" cy="301752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68680" y="384048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41832" y="3913632"/>
            <a:ext cx="25968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+ rerank evidence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77640" y="3995928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prefer concept and module matches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240280" y="4343400"/>
            <a:ext cx="0" cy="301752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68680" y="466344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41832" y="4736592"/>
            <a:ext cx="25968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tutor prompt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77640" y="4818888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use evidence and stay answer-safe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321040" y="1371600"/>
            <a:ext cx="3063240" cy="3794760"/>
          </a:xfrm>
          <a:prstGeom prst="roundRect">
            <a:avLst>
              <a:gd name="adj" fmla="val 2388"/>
            </a:avLst>
          </a:prstGeom>
          <a:solidFill>
            <a:srgbClr val="F1F5FC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577072" y="17099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3B63"/>
                </a:solidFill>
              </a:rPr>
              <a:t>Why it mattered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8577072" y="23317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</a:rPr>
              <a:t>Uses retrieved course context, not the model’s memory.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8577072" y="34747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</a:rPr>
              <a:t>This keeps responses more relevant to the selected module.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GUARDRAILS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Helpful, but not answer-giving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325880"/>
            <a:ext cx="3108960" cy="1078992"/>
          </a:xfrm>
          <a:prstGeom prst="roundRect">
            <a:avLst>
              <a:gd name="adj" fmla="val 6780"/>
            </a:avLst>
          </a:prstGeom>
          <a:solidFill>
            <a:srgbClr val="FFF7E6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87552" y="1399032"/>
            <a:ext cx="29626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reveal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26280" y="1325880"/>
            <a:ext cx="3108960" cy="1078992"/>
          </a:xfrm>
          <a:prstGeom prst="roundRect">
            <a:avLst>
              <a:gd name="adj" fmla="val 6780"/>
            </a:avLst>
          </a:prstGeom>
          <a:solidFill>
            <a:srgbClr val="DDF5E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99432" y="1399032"/>
            <a:ext cx="29626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grounded in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evidence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38160" y="1325880"/>
            <a:ext cx="3108960" cy="1078992"/>
          </a:xfrm>
          <a:prstGeom prst="roundRect">
            <a:avLst>
              <a:gd name="adj" fmla="val 6780"/>
            </a:avLst>
          </a:prstGeom>
          <a:solidFill>
            <a:srgbClr val="EAF1FB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11312" y="1399032"/>
            <a:ext cx="29626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help tied 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question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9992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3B63"/>
                </a:solidFill>
              </a:rPr>
              <a:t>Tutor response pipeline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68680" y="3611880"/>
            <a:ext cx="18745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41832" y="3685032"/>
            <a:ext cx="1728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draft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91840" y="3611880"/>
            <a:ext cx="1874520" cy="640080"/>
          </a:xfrm>
          <a:prstGeom prst="roundRect">
            <a:avLst>
              <a:gd name="adj" fmla="val 11429"/>
            </a:avLst>
          </a:prstGeom>
          <a:solidFill>
            <a:srgbClr val="FFF7E6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64992" y="3685032"/>
            <a:ext cx="1728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Answer-leak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715000" y="3611880"/>
            <a:ext cx="1874520" cy="640080"/>
          </a:xfrm>
          <a:prstGeom prst="roundRect">
            <a:avLst>
              <a:gd name="adj" fmla="val 11429"/>
            </a:avLst>
          </a:prstGeom>
          <a:solidFill>
            <a:srgbClr val="EAF1FB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88152" y="3685032"/>
            <a:ext cx="1728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38160" y="3611880"/>
            <a:ext cx="1874520" cy="640080"/>
          </a:xfrm>
          <a:prstGeom prst="roundRect">
            <a:avLst>
              <a:gd name="adj" fmla="val 11429"/>
            </a:avLst>
          </a:prstGeom>
          <a:solidFill>
            <a:srgbClr val="DDF5E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11312" y="3685032"/>
            <a:ext cx="1728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Student-facing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743200" y="3931920"/>
            <a:ext cx="54864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66360" y="3931920"/>
            <a:ext cx="54864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589520" y="3931920"/>
            <a:ext cx="54864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60120" y="516636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3B63"/>
                </a:solidFill>
              </a:rPr>
              <a:t>This was the central design tension: students need useful help, but the app should not simply reveal the stored answer.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LAYER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bank needed as much engineering as the tutor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77240" y="1353312"/>
            <a:ext cx="28803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71907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9A8A"/>
                </a:solidFill>
              </a:rPr>
              <a:t>450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215798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practice questions audited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86200" y="1353312"/>
            <a:ext cx="28803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069080" y="171907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32"/>
                </a:solidFill>
              </a:rPr>
              <a:t>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069080" y="215798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answer-option issues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995160" y="1353312"/>
            <a:ext cx="28803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78040" y="171907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D82D8"/>
                </a:solidFill>
              </a:rPr>
              <a:t>PASS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178040" y="215798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smoke-test result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374904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B63"/>
                </a:solidFill>
              </a:rPr>
              <a:t>Quality checks included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1248" y="4160520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3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questions and duplicate options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841248" y="4526280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3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or invalid answer keys</a:t>
            </a:r>
            <a:endParaRPr lang="en-US" sz="1380" dirty="0"/>
          </a:p>
        </p:txBody>
      </p:sp>
      <p:sp>
        <p:nvSpPr>
          <p:cNvPr id="17" name="Text 15"/>
          <p:cNvSpPr/>
          <p:nvPr/>
        </p:nvSpPr>
        <p:spPr>
          <a:xfrm>
            <a:off x="841248" y="4892040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3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module/topic mismatches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841248" y="5257800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3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or repetitive feedback explanations</a:t>
            </a:r>
            <a:endParaRPr lang="en-US" sz="1380" dirty="0"/>
          </a:p>
        </p:txBody>
      </p:sp>
      <p:sp>
        <p:nvSpPr>
          <p:cNvPr id="19" name="Text 17"/>
          <p:cNvSpPr/>
          <p:nvPr/>
        </p:nvSpPr>
        <p:spPr>
          <a:xfrm>
            <a:off x="841248" y="5623560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3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 that were irrelevant or forced</a:t>
            </a:r>
            <a:endParaRPr lang="en-US" sz="1380" dirty="0"/>
          </a:p>
        </p:txBody>
      </p:sp>
      <p:sp>
        <p:nvSpPr>
          <p:cNvPr id="20" name="Text 18"/>
          <p:cNvSpPr/>
          <p:nvPr/>
        </p:nvSpPr>
        <p:spPr>
          <a:xfrm>
            <a:off x="6446520" y="374904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B63"/>
                </a:solidFill>
              </a:rPr>
              <a:t>Visual strategy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73952" y="416052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3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R/ggplot or recreated visuals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6473952" y="454456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3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visuals only when relevant</a:t>
            </a:r>
            <a:endParaRPr lang="en-US" sz="1380" dirty="0"/>
          </a:p>
        </p:txBody>
      </p:sp>
      <p:sp>
        <p:nvSpPr>
          <p:cNvPr id="23" name="Text 21"/>
          <p:cNvSpPr/>
          <p:nvPr/>
        </p:nvSpPr>
        <p:spPr>
          <a:xfrm>
            <a:off x="6473952" y="4928616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3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copying textbook figures into the repo</a:t>
            </a:r>
            <a:endParaRPr lang="en-US" sz="1380" dirty="0"/>
          </a:p>
        </p:txBody>
      </p:sp>
      <p:sp>
        <p:nvSpPr>
          <p:cNvPr id="24" name="Text 22"/>
          <p:cNvSpPr/>
          <p:nvPr/>
        </p:nvSpPr>
        <p:spPr>
          <a:xfrm>
            <a:off x="6473952" y="5312664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3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visuals as support, not decoration</a:t>
            </a:r>
            <a:endParaRPr lang="en-US" sz="1380" dirty="0"/>
          </a:p>
        </p:txBody>
      </p:sp>
      <p:sp>
        <p:nvSpPr>
          <p:cNvPr id="25" name="Shape 23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path: one student practice session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0241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app demonstration will show the product; slides only anchor what to look for.</a:t>
            </a:r>
            <a:endParaRPr lang="en-US" sz="1340" dirty="0"/>
          </a:p>
        </p:txBody>
      </p:sp>
      <p:sp>
        <p:nvSpPr>
          <p:cNvPr id="6" name="Shape 4"/>
          <p:cNvSpPr/>
          <p:nvPr/>
        </p:nvSpPr>
        <p:spPr>
          <a:xfrm>
            <a:off x="868680" y="1417320"/>
            <a:ext cx="384048" cy="384048"/>
          </a:xfrm>
          <a:prstGeom prst="ellipse">
            <a:avLst/>
          </a:prstGeom>
          <a:solidFill>
            <a:srgbClr val="1F9A8A"/>
          </a:solidFill>
          <a:ln w="12700">
            <a:solidFill>
              <a:srgbClr val="1F9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435608" y="13990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3B63"/>
                </a:solidFill>
              </a:rPr>
              <a:t>Open app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35608" y="172821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64748B"/>
                </a:solidFill>
              </a:rPr>
              <a:t>no login or role selection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868680" y="2496312"/>
            <a:ext cx="384048" cy="384048"/>
          </a:xfrm>
          <a:prstGeom prst="ellipse">
            <a:avLst/>
          </a:prstGeom>
          <a:solidFill>
            <a:srgbClr val="1F9A8A"/>
          </a:solidFill>
          <a:ln w="12700">
            <a:solidFill>
              <a:srgbClr val="1F9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587752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35608" y="247802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3B63"/>
                </a:solidFill>
              </a:rPr>
              <a:t>Choose module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35608" y="280720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64748B"/>
                </a:solidFill>
              </a:rPr>
              <a:t>or cumulative review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868680" y="3575304"/>
            <a:ext cx="384048" cy="384048"/>
          </a:xfrm>
          <a:prstGeom prst="ellipse">
            <a:avLst/>
          </a:prstGeom>
          <a:solidFill>
            <a:srgbClr val="1F9A8A"/>
          </a:solidFill>
          <a:ln w="12700">
            <a:solidFill>
              <a:srgbClr val="1F9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666744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35608" y="35570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3B63"/>
                </a:solidFill>
              </a:rPr>
              <a:t>Answer a question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35608" y="3886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64748B"/>
                </a:solidFill>
              </a:rPr>
              <a:t>see immediate feedback</a:t>
            </a:r>
            <a:endParaRPr lang="en-US" sz="1280" dirty="0"/>
          </a:p>
        </p:txBody>
      </p:sp>
      <p:sp>
        <p:nvSpPr>
          <p:cNvPr id="18" name="Shape 16"/>
          <p:cNvSpPr/>
          <p:nvPr/>
        </p:nvSpPr>
        <p:spPr>
          <a:xfrm>
            <a:off x="6355080" y="1417320"/>
            <a:ext cx="384048" cy="384048"/>
          </a:xfrm>
          <a:prstGeom prst="ellipse">
            <a:avLst/>
          </a:prstGeom>
          <a:solidFill>
            <a:srgbClr val="1F9A8A"/>
          </a:solidFill>
          <a:ln w="12700">
            <a:solidFill>
              <a:srgbClr val="1F9A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508760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22008" y="13990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3B63"/>
                </a:solidFill>
              </a:rPr>
              <a:t>Ask tutor for help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6922008" y="172821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64748B"/>
                </a:solidFill>
              </a:rPr>
              <a:t>hint or concept explanation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6355080" y="2496312"/>
            <a:ext cx="384048" cy="384048"/>
          </a:xfrm>
          <a:prstGeom prst="ellipse">
            <a:avLst/>
          </a:prstGeom>
          <a:solidFill>
            <a:srgbClr val="1F9A8A"/>
          </a:solidFill>
          <a:ln w="12700">
            <a:solidFill>
              <a:srgbClr val="1F9A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5080" y="2587752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22008" y="247802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3B63"/>
                </a:solidFill>
              </a:rPr>
              <a:t>Ask for visual support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6922008" y="280720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64748B"/>
                </a:solidFill>
              </a:rPr>
              <a:t>only if useful</a:t>
            </a:r>
            <a:endParaRPr lang="en-US" sz="1280" dirty="0"/>
          </a:p>
        </p:txBody>
      </p:sp>
      <p:sp>
        <p:nvSpPr>
          <p:cNvPr id="26" name="Shape 24"/>
          <p:cNvSpPr/>
          <p:nvPr/>
        </p:nvSpPr>
        <p:spPr>
          <a:xfrm>
            <a:off x="6355080" y="3575304"/>
            <a:ext cx="384048" cy="384048"/>
          </a:xfrm>
          <a:prstGeom prst="ellipse">
            <a:avLst/>
          </a:prstGeom>
          <a:solidFill>
            <a:srgbClr val="1F9A8A"/>
          </a:solidFill>
          <a:ln w="12700">
            <a:solidFill>
              <a:srgbClr val="1F9A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3666744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22008" y="35570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3B63"/>
                </a:solidFill>
              </a:rPr>
              <a:t>Preview progress/review sheet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6922008" y="3886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64748B"/>
                </a:solidFill>
              </a:rPr>
              <a:t>prototype personalization</a:t>
            </a:r>
            <a:endParaRPr lang="en-US" sz="1280" dirty="0"/>
          </a:p>
        </p:txBody>
      </p:sp>
      <p:sp>
        <p:nvSpPr>
          <p:cNvPr id="30" name="Shape 28"/>
          <p:cNvSpPr/>
          <p:nvPr/>
        </p:nvSpPr>
        <p:spPr>
          <a:xfrm>
            <a:off x="1234440" y="5257800"/>
            <a:ext cx="9646920" cy="603504"/>
          </a:xfrm>
          <a:prstGeom prst="roundRect">
            <a:avLst>
              <a:gd name="adj" fmla="val 12121"/>
            </a:avLst>
          </a:prstGeom>
          <a:solidFill>
            <a:srgbClr val="243B63"/>
          </a:solidFill>
          <a:ln w="12700">
            <a:solidFill>
              <a:srgbClr val="243B6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08760" y="5449824"/>
            <a:ext cx="9098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</a:rPr>
              <a:t>If the API is slow, I will use screenshots as backup — but the intended demo is live.</a:t>
            </a:r>
            <a:endParaRPr lang="en-US" sz="1420" dirty="0"/>
          </a:p>
        </p:txBody>
      </p:sp>
      <p:sp>
        <p:nvSpPr>
          <p:cNvPr id="32" name="Shape 30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ROADBLOCKS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made this harder than a simple chatbot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1417320"/>
            <a:ext cx="498348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24712" y="1636776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B63"/>
                </a:solidFill>
              </a:rPr>
              <a:t>Latency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4712" y="203911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64748B"/>
                </a:solidFill>
              </a:rPr>
              <a:t>Tutor requests may involve retrieval, an LLM call, safety checks, and visual rendering.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498348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28232" y="1636776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B63"/>
                </a:solidFill>
              </a:rPr>
              <a:t>Question quality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28232" y="203911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64748B"/>
                </a:solidFill>
              </a:rPr>
              <a:t>Generated content needed audits for duplicates, weak explanations, and wrong metadata.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868680" y="3547872"/>
            <a:ext cx="498348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124712" y="376732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B63"/>
                </a:solidFill>
              </a:rPr>
              <a:t>Visual relevance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24712" y="416966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64748B"/>
                </a:solidFill>
              </a:rPr>
              <a:t>Visuals helped, but only when matched carefully to the current concept.</a:t>
            </a:r>
            <a:endParaRPr lang="en-US" sz="1340" dirty="0"/>
          </a:p>
        </p:txBody>
      </p:sp>
      <p:sp>
        <p:nvSpPr>
          <p:cNvPr id="14" name="Shape 12"/>
          <p:cNvSpPr/>
          <p:nvPr/>
        </p:nvSpPr>
        <p:spPr>
          <a:xfrm>
            <a:off x="6172200" y="3547872"/>
            <a:ext cx="498348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376732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B63"/>
                </a:solidFill>
              </a:rPr>
              <a:t>Grounding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28232" y="416966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64748B"/>
                </a:solidFill>
              </a:rPr>
              <a:t>RAG helped, but retrieval still needed module and concept awareness.</a:t>
            </a:r>
            <a:endParaRPr lang="en-US" sz="1340" dirty="0"/>
          </a:p>
        </p:txBody>
      </p:sp>
      <p:sp>
        <p:nvSpPr>
          <p:cNvPr id="17" name="Text 15"/>
          <p:cNvSpPr/>
          <p:nvPr/>
        </p:nvSpPr>
        <p:spPr>
          <a:xfrm>
            <a:off x="914400" y="580644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9A8A"/>
                </a:solidFill>
              </a:rPr>
              <a:t>Main lesson: educational AI needs product logic, retrieval design, evaluation, and content audits around the model.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 best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1234440"/>
            <a:ext cx="10287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362456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43B63"/>
                </a:solidFill>
              </a:rPr>
              <a:t>Prebuilt question bank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4343400" y="1362456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1E293B"/>
                </a:solidFill>
              </a:rPr>
              <a:t>kept the practice loop fast and testable</a:t>
            </a:r>
            <a:endParaRPr lang="en-US" sz="1440" dirty="0"/>
          </a:p>
        </p:txBody>
      </p:sp>
      <p:sp>
        <p:nvSpPr>
          <p:cNvPr id="8" name="Shape 6"/>
          <p:cNvSpPr/>
          <p:nvPr/>
        </p:nvSpPr>
        <p:spPr>
          <a:xfrm>
            <a:off x="868680" y="1947672"/>
            <a:ext cx="10287000" cy="457200"/>
          </a:xfrm>
          <a:prstGeom prst="roundRect">
            <a:avLst>
              <a:gd name="adj" fmla="val 16000"/>
            </a:avLst>
          </a:prstGeom>
          <a:solidFill>
            <a:srgbClr val="F1F5FC"/>
          </a:solidFill>
          <a:ln w="12700">
            <a:solidFill>
              <a:srgbClr val="D8E2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075688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43B63"/>
                </a:solidFill>
              </a:rPr>
              <a:t>Current-question context</a:t>
            </a:r>
            <a:endParaRPr lang="en-US" sz="1440" dirty="0"/>
          </a:p>
        </p:txBody>
      </p:sp>
      <p:sp>
        <p:nvSpPr>
          <p:cNvPr id="10" name="Text 8"/>
          <p:cNvSpPr/>
          <p:nvPr/>
        </p:nvSpPr>
        <p:spPr>
          <a:xfrm>
            <a:off x="4343400" y="207568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1E293B"/>
                </a:solidFill>
              </a:rPr>
              <a:t>made tutor responses more relevant</a:t>
            </a:r>
            <a:endParaRPr lang="en-US" sz="1440" dirty="0"/>
          </a:p>
        </p:txBody>
      </p:sp>
      <p:sp>
        <p:nvSpPr>
          <p:cNvPr id="11" name="Shape 9"/>
          <p:cNvSpPr/>
          <p:nvPr/>
        </p:nvSpPr>
        <p:spPr>
          <a:xfrm>
            <a:off x="868680" y="2660904"/>
            <a:ext cx="10287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788920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43B63"/>
                </a:solidFill>
              </a:rPr>
              <a:t>RAG + reranking</a:t>
            </a:r>
            <a:endParaRPr lang="en-US" sz="1440" dirty="0"/>
          </a:p>
        </p:txBody>
      </p:sp>
      <p:sp>
        <p:nvSpPr>
          <p:cNvPr id="13" name="Text 11"/>
          <p:cNvSpPr/>
          <p:nvPr/>
        </p:nvSpPr>
        <p:spPr>
          <a:xfrm>
            <a:off x="4343400" y="2788920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1E293B"/>
                </a:solidFill>
              </a:rPr>
              <a:t>reduced reliance on generic model memory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868680" y="3374136"/>
            <a:ext cx="10287000" cy="457200"/>
          </a:xfrm>
          <a:prstGeom prst="roundRect">
            <a:avLst>
              <a:gd name="adj" fmla="val 16000"/>
            </a:avLst>
          </a:prstGeom>
          <a:solidFill>
            <a:srgbClr val="F1F5FC"/>
          </a:solidFill>
          <a:ln w="12700">
            <a:solidFill>
              <a:srgbClr val="D8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502152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43B63"/>
                </a:solidFill>
              </a:rPr>
              <a:t>Audits + smoke tests</a:t>
            </a:r>
            <a:endParaRPr lang="en-US" sz="1440" dirty="0"/>
          </a:p>
        </p:txBody>
      </p:sp>
      <p:sp>
        <p:nvSpPr>
          <p:cNvPr id="16" name="Text 14"/>
          <p:cNvSpPr/>
          <p:nvPr/>
        </p:nvSpPr>
        <p:spPr>
          <a:xfrm>
            <a:off x="4343400" y="3502152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1E293B"/>
                </a:solidFill>
              </a:rPr>
              <a:t>caught content and routing issues before the demo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868680" y="4087368"/>
            <a:ext cx="10287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215384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43B63"/>
                </a:solidFill>
              </a:rPr>
              <a:t>Deterministic visuals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4343400" y="4215384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1E293B"/>
                </a:solidFill>
              </a:rPr>
              <a:t>made explanations reproducible and safer to publish</a:t>
            </a:r>
            <a:endParaRPr lang="en-US" sz="1440" dirty="0"/>
          </a:p>
        </p:txBody>
      </p:sp>
      <p:sp>
        <p:nvSpPr>
          <p:cNvPr id="20" name="Shape 18"/>
          <p:cNvSpPr/>
          <p:nvPr/>
        </p:nvSpPr>
        <p:spPr>
          <a:xfrm>
            <a:off x="868680" y="4800600"/>
            <a:ext cx="10287000" cy="457200"/>
          </a:xfrm>
          <a:prstGeom prst="roundRect">
            <a:avLst>
              <a:gd name="adj" fmla="val 16000"/>
            </a:avLst>
          </a:prstGeom>
          <a:solidFill>
            <a:srgbClr val="F1F5FC"/>
          </a:solidFill>
          <a:ln w="12700">
            <a:solidFill>
              <a:srgbClr val="D8E2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928616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43B63"/>
                </a:solidFill>
              </a:rPr>
              <a:t>Guardrails</a:t>
            </a:r>
            <a:endParaRPr lang="en-US" sz="1440" dirty="0"/>
          </a:p>
        </p:txBody>
      </p:sp>
      <p:sp>
        <p:nvSpPr>
          <p:cNvPr id="22" name="Text 20"/>
          <p:cNvSpPr/>
          <p:nvPr/>
        </p:nvSpPr>
        <p:spPr>
          <a:xfrm>
            <a:off x="4343400" y="4928616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1E293B"/>
                </a:solidFill>
              </a:rPr>
              <a:t>kept the tutor helpful without becoming the answer key</a:t>
            </a:r>
            <a:endParaRPr lang="en-US" sz="1440" dirty="0"/>
          </a:p>
        </p:txBody>
      </p:sp>
      <p:sp>
        <p:nvSpPr>
          <p:cNvPr id="23" name="Shape 21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DEVELOPMENT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production version would need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77240" y="1508760"/>
            <a:ext cx="16459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0392" y="1581912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Shiny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017520" y="1508760"/>
            <a:ext cx="16459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90672" y="1581912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API-key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257800" y="1508760"/>
            <a:ext cx="1645920" cy="694944"/>
          </a:xfrm>
          <a:prstGeom prst="roundRect">
            <a:avLst>
              <a:gd name="adj" fmla="val 10526"/>
            </a:avLst>
          </a:prstGeom>
          <a:solidFill>
            <a:srgbClr val="DDF5EF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330952" y="1581912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98080" y="1508760"/>
            <a:ext cx="1645920" cy="694944"/>
          </a:xfrm>
          <a:prstGeom prst="roundRect">
            <a:avLst>
              <a:gd name="adj" fmla="val 10526"/>
            </a:avLst>
          </a:prstGeom>
          <a:solidFill>
            <a:srgbClr val="EAF1FB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71232" y="1581912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38360" y="1508760"/>
            <a:ext cx="1645920" cy="694944"/>
          </a:xfrm>
          <a:prstGeom prst="roundRect">
            <a:avLst>
              <a:gd name="adj" fmla="val 10526"/>
            </a:avLst>
          </a:prstGeom>
          <a:solidFill>
            <a:srgbClr val="FFF7E6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811512" y="1581912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+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423160" y="1856232"/>
            <a:ext cx="59436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63440" y="1856232"/>
            <a:ext cx="59436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903720" y="1856232"/>
            <a:ext cx="59436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44000" y="1856232"/>
            <a:ext cx="59436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868680" y="297180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3B63"/>
                </a:solidFill>
              </a:rPr>
              <a:t>Next feature extensions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14400" y="34290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accounts and secure progress tracking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914400" y="381304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dashboard for weak-concept patterns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914400" y="4197096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reviewed question bank and item analytics</a:t>
            </a:r>
            <a:endParaRPr lang="en-US" sz="1420" dirty="0"/>
          </a:p>
        </p:txBody>
      </p:sp>
      <p:sp>
        <p:nvSpPr>
          <p:cNvPr id="23" name="Text 21"/>
          <p:cNvSpPr/>
          <p:nvPr/>
        </p:nvSpPr>
        <p:spPr>
          <a:xfrm>
            <a:off x="914400" y="458114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retrieval / reranking pipeline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914400" y="4965192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ingestion pipeline for licensed or open course materials</a:t>
            </a:r>
            <a:endParaRPr lang="en-US" sz="1420" dirty="0"/>
          </a:p>
        </p:txBody>
      </p:sp>
      <p:sp>
        <p:nvSpPr>
          <p:cNvPr id="25" name="Shape 23"/>
          <p:cNvSpPr/>
          <p:nvPr/>
        </p:nvSpPr>
        <p:spPr>
          <a:xfrm>
            <a:off x="7178040" y="297180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F1F5FC"/>
          </a:solidFill>
          <a:ln w="12700">
            <a:solidFill>
              <a:srgbClr val="D8E2EF"/>
            </a:solidFill>
            <a:prstDash val="solid"/>
          </a:ln>
          <a:effectLst>
            <a:outerShdw sx="100000" sy="100000" kx="0" ky="0" algn="bl" rotWithShape="0" blurRad="12700" dist="50800" dir="2700000">
              <a:srgbClr val="D4DCE8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52360" y="329184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B63"/>
                </a:solidFill>
              </a:rPr>
              <a:t>Latency plan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452360" y="3840480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1E293B"/>
                </a:solidFill>
              </a:rPr>
              <a:t>Cache common tutor responses, stream model output, and route simple help requests to faster models.</a:t>
            </a:r>
            <a:endParaRPr lang="en-US" sz="1340" dirty="0"/>
          </a:p>
        </p:txBody>
      </p:sp>
      <p:sp>
        <p:nvSpPr>
          <p:cNvPr id="28" name="Shape 26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83696" y="64739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292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is the guarded workflow, not just the chatbot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234440"/>
            <a:ext cx="10378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43B63"/>
                </a:solidFill>
              </a:rPr>
              <a:t>This project shows how LLMs can add value to a statistics learning workflow when they are grounded, constrained, and paired with traditional engineering tools: an audited question bank, deterministic visuals, automated tests, and reproducible setup.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2587752"/>
            <a:ext cx="10195560" cy="777240"/>
          </a:xfrm>
          <a:prstGeom prst="roundRect">
            <a:avLst>
              <a:gd name="adj" fmla="val 9412"/>
            </a:avLst>
          </a:prstGeom>
          <a:solidFill>
            <a:srgbClr val="DDF5EF"/>
          </a:solidFill>
          <a:ln w="12700">
            <a:solidFill>
              <a:srgbClr val="DDF5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852928"/>
            <a:ext cx="9646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80" b="1" dirty="0">
                <a:solidFill>
                  <a:srgbClr val="243B63"/>
                </a:solidFill>
              </a:rPr>
              <a:t>Final message: AI-supported guided practice, not AI-as-answer-key.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B63"/>
                </a:solidFill>
              </a:rPr>
              <a:t>References / resources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6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Shiny and Quarto documentation</a:t>
            </a:r>
            <a:endParaRPr lang="en-US" sz="1260" dirty="0"/>
          </a:p>
        </p:txBody>
      </p:sp>
      <p:sp>
        <p:nvSpPr>
          <p:cNvPr id="10" name="Text 8"/>
          <p:cNvSpPr/>
          <p:nvPr/>
        </p:nvSpPr>
        <p:spPr>
          <a:xfrm>
            <a:off x="914400" y="475488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6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ellmer and Anthropic Claude API documentation</a:t>
            </a:r>
            <a:endParaRPr lang="en-US" sz="1260" dirty="0"/>
          </a:p>
        </p:txBody>
      </p:sp>
      <p:sp>
        <p:nvSpPr>
          <p:cNvPr id="11" name="Text 9"/>
          <p:cNvSpPr/>
          <p:nvPr/>
        </p:nvSpPr>
        <p:spPr>
          <a:xfrm>
            <a:off x="914400" y="50292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6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vitals package for LLM evaluation</a:t>
            </a:r>
            <a:endParaRPr lang="en-US" sz="1260" dirty="0"/>
          </a:p>
        </p:txBody>
      </p:sp>
      <p:sp>
        <p:nvSpPr>
          <p:cNvPr id="12" name="Text 10"/>
          <p:cNvSpPr/>
          <p:nvPr/>
        </p:nvSpPr>
        <p:spPr>
          <a:xfrm>
            <a:off x="914400" y="530352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6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lectures on RAG, LLM applications, and tool use</a:t>
            </a:r>
            <a:endParaRPr lang="en-US" sz="1260" dirty="0"/>
          </a:p>
        </p:txBody>
      </p:sp>
      <p:sp>
        <p:nvSpPr>
          <p:cNvPr id="13" name="Text 11"/>
          <p:cNvSpPr/>
          <p:nvPr/>
        </p:nvSpPr>
        <p:spPr>
          <a:xfrm>
            <a:off x="914400" y="557784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6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Introductory statistics textbook/course materials used as local scope guide</a:t>
            </a:r>
            <a:endParaRPr lang="en-US" sz="1260" dirty="0"/>
          </a:p>
        </p:txBody>
      </p:sp>
      <p:sp>
        <p:nvSpPr>
          <p:cNvPr id="14" name="Text 12"/>
          <p:cNvSpPr/>
          <p:nvPr/>
        </p:nvSpPr>
        <p:spPr>
          <a:xfrm>
            <a:off x="914400" y="585216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b="1" dirty="0">
                <a:solidFill>
                  <a:srgbClr val="4D8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6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ZaidGhazi/Intro-to-Statistics-Study-App</a:t>
            </a:r>
            <a:endParaRPr lang="en-US" sz="1260" dirty="0"/>
          </a:p>
        </p:txBody>
      </p:sp>
      <p:sp>
        <p:nvSpPr>
          <p:cNvPr id="15" name="Shape 13"/>
          <p:cNvSpPr/>
          <p:nvPr/>
        </p:nvSpPr>
        <p:spPr>
          <a:xfrm>
            <a:off x="566928" y="6382512"/>
            <a:ext cx="10744200" cy="0"/>
          </a:xfrm>
          <a:prstGeom prst="line">
            <a:avLst/>
          </a:prstGeom>
          <a:noFill/>
          <a:ln w="8890">
            <a:solidFill>
              <a:srgbClr val="D8E2E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Statistics Study App</dc:title>
  <dc:subject>STAT 6395 Final Project Presentation</dc:subject>
  <dc:creator>Zaid Ghazi</dc:creator>
  <cp:lastModifiedBy>Zaid Ghazi</cp:lastModifiedBy>
  <cp:revision>1</cp:revision>
  <dcterms:created xsi:type="dcterms:W3CDTF">2026-05-09T23:53:24Z</dcterms:created>
  <dcterms:modified xsi:type="dcterms:W3CDTF">2026-05-09T23:53:24Z</dcterms:modified>
</cp:coreProperties>
</file>