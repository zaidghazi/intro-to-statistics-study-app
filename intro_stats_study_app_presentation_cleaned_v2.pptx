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this as a STAT 6395 final project and portfolio proof of concept. The key claim is not simply that I built a Shiny chatbot.</a:t>
            </a:r>
            <a:endParaRPr lang="en-US" dirty="0"/>
          </a:p>
          <a:p>
            <a:r>
              <a:rPr lang="en-US" dirty="0"/>
              <a:t>The project combines R/Shiny, RAG, an audited practice bank, tutor guardrails, Anthropic/ellmer when configured, visual explanations, and evaluation.</a:t>
            </a:r>
            <a:endParaRPr lang="en-US" dirty="0"/>
          </a:p>
          <a:p>
            <a:r>
              <a:rPr lang="en-US" dirty="0"/>
              <a:t>Emphasize local proof-of-concept status: the architecture is shareable, but private or copyrighted course assets are not redistributed.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student pain point: help is most needed while practicing, not after leaving the question.</a:t>
            </a:r>
            <a:endParaRPr lang="en-US" dirty="0"/>
          </a:p>
          <a:p>
            <a:r>
              <a:rPr lang="en-US" dirty="0"/>
              <a:t>Static practice is fast but cannot adapt. Generic chat is flexible but can hallucinate, drift off-topic, or reveal final answers.</a:t>
            </a:r>
            <a:endParaRPr lang="en-US" dirty="0"/>
          </a:p>
          <a:p>
            <a:r>
              <a:rPr lang="en-US" dirty="0"/>
              <a:t>The product answer is a controlled practice loop with embedded, grounded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product at a high level: choose one or more module cards, answer audited questions, and ask for contextual help.</a:t>
            </a:r>
            <a:endParaRPr lang="en-US" dirty="0"/>
          </a:p>
          <a:p>
            <a:r>
              <a:rPr lang="en-US" dirty="0"/>
              <a:t>Mention that multi-module selection supports cumulative review while still constraining practice and retrieval to the selected module pool.</a:t>
            </a:r>
            <a:endParaRPr lang="en-US" dirty="0"/>
          </a:p>
          <a:p>
            <a:r>
              <a:rPr lang="en-US" dirty="0"/>
              <a:t>The tutor quick actions stay simple: hints and concept explanations. Visual help happens through natural follow-up text so the interface does not become crowded.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separate the deterministic practice loop from the AI support layer.</a:t>
            </a:r>
            <a:endParaRPr lang="en-US" dirty="0"/>
          </a:p>
          <a:p>
            <a:r>
              <a:rPr lang="en-US" dirty="0"/>
              <a:t>Starting practice should be fast: it samples from a stored question bank, not from an LLM, and it does not rebuild retrieval assets.</a:t>
            </a:r>
            <a:endParaRPr lang="en-US" dirty="0"/>
          </a:p>
          <a:p>
            <a:r>
              <a:rPr lang="en-US" dirty="0"/>
              <a:t>The tutor enters when the student asks for a hint, explanation, visual, or follow-up. That makes the app easier to control and evaluate.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design choice: the LLM is selective. Routine work stays local and reproducible.</a:t>
            </a:r>
            <a:endParaRPr lang="en-US" dirty="0"/>
          </a:p>
          <a:p>
            <a:r>
              <a:rPr lang="en-US" dirty="0"/>
              <a:t>Stored hints, answer checking, question selection, and R-rendered visuals avoid unnecessary model calls. Anthropic is used when configured for richer explanations and follow-ups.</a:t>
            </a:r>
            <a:endParaRPr lang="en-US" dirty="0"/>
          </a:p>
          <a:p>
            <a:r>
              <a:rPr lang="en-US" dirty="0"/>
              <a:t>For visual help, the app renders the visual with R/ggplot or deploy-safe metadata; the LLM explains the selected visual rather than generating the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RAG chain: the student request plus current question context becomes a normalized query, then retrieval and reranking choose evidence.</a:t>
            </a:r>
            <a:endParaRPr lang="en-US" dirty="0"/>
          </a:p>
          <a:p>
            <a:r>
              <a:rPr lang="en-US" dirty="0"/>
              <a:t>Important nuance: local professor slides and notes can function as optional overlays in the RAG infrastructure, but the public repo does not include source-derived private artifacts.</a:t>
            </a:r>
            <a:endParaRPr lang="en-US" dirty="0"/>
          </a:p>
          <a:p>
            <a:r>
              <a:rPr lang="en-US" dirty="0"/>
              <a:t>The tracked question bank is textbook-aligned and audited. Professor/course materials may have informed local evidence and concept consolidation, but they are not redistributed.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tutoring safety problem: helpful support without turning the app into an answer key.</a:t>
            </a:r>
            <a:endParaRPr lang="en-US" dirty="0"/>
          </a:p>
          <a:p>
            <a:r>
              <a:rPr lang="en-US" dirty="0"/>
              <a:t>Hints should not diagnose an answer before submission, and early help should nudge rather than reveal. Stored hints are used first when they are specific enough.</a:t>
            </a:r>
            <a:endParaRPr lang="en-US" dirty="0"/>
          </a:p>
          <a:p>
            <a:r>
              <a:rPr lang="en-US" dirty="0"/>
              <a:t>Generated responses are cleaned for student-facing language, checked for answer leakage, and kept tied to the current question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content quality became a major engineering task, not an afterthought.</a:t>
            </a:r>
            <a:endParaRPr lang="en-US" dirty="0"/>
          </a:p>
          <a:p>
            <a:r>
              <a:rPr lang="en-US" dirty="0"/>
              <a:t>The current bank has 450 questions and audit outputs for answer choices, metadata, explanations, visuals, and smoke tests.</a:t>
            </a:r>
            <a:endParaRPr lang="en-US" dirty="0"/>
          </a:p>
          <a:p>
            <a:r>
              <a:rPr lang="en-US" dirty="0"/>
              <a:t>Make the source boundary explicit: the public repo includes deploy-safe demo assets and an audited bank; private textbook or professor-source artifacts stay local and 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planned live demo path. Keep the demo simple: choose module cards, start practice, submit, then ask for help.</a:t>
            </a:r>
            <a:endParaRPr lang="en-US" dirty="0"/>
          </a:p>
          <a:p>
            <a:r>
              <a:rPr lang="en-US" dirty="0"/>
              <a:t>Point out that no login or role switching appears because this is a cold-start proof-of-concept practice app.</a:t>
            </a:r>
            <a:endParaRPr lang="en-US" dirty="0"/>
          </a:p>
          <a:p>
            <a:r>
              <a:rPr lang="en-US" dirty="0"/>
              <a:t>For visual support, ask a specific prompt such as "what does a time plot look like?" to show that explicit student requests now take priority over broad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that the hard parts were product and evaluation issues around the model.</a:t>
            </a:r>
            <a:endParaRPr lang="en-US" dirty="0"/>
          </a:p>
          <a:p>
            <a:r>
              <a:rPr lang="en-US" dirty="0"/>
              <a:t>Latency came from retrieval, model calls, safety checks, and visual work, so the app avoids LLM calls at practice start and caches context where possible.</a:t>
            </a:r>
            <a:endParaRPr lang="en-US" dirty="0"/>
          </a:p>
          <a:p>
            <a:r>
              <a:rPr lang="en-US" dirty="0"/>
              <a:t>Visual relevance was a real bug class: the app now prioritizes the student's specific visual request before falling back to current-question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what worked: prebuilt questions, current-question context, RAG/reranking, smoke tests, R-rendered visuals, and guardrails.</a:t>
            </a:r>
            <a:endParaRPr lang="en-US" dirty="0"/>
          </a:p>
          <a:p>
            <a:r>
              <a:rPr lang="en-US" dirty="0"/>
              <a:t>The most important lesson is that the model is only one component; the surrounding workflow makes it useful for education.</a:t>
            </a:r>
            <a:endParaRPr lang="en-US" dirty="0"/>
          </a:p>
          <a:p>
            <a:r>
              <a:rPr lang="en-US" dirty="0"/>
              <a:t>Tie this back to course topics: text preprocessing, retrieval, prompt engineering, evaluation, tool use, and deployment tradeoffs.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production gaps: hosting, secure API keys, response caching, streaming, monitoring, and more instructor review.</a:t>
            </a:r>
            <a:endParaRPr lang="en-US" dirty="0"/>
          </a:p>
          <a:p>
            <a:r>
              <a:rPr lang="en-US" dirty="0"/>
              <a:t>On shinyapps.io, bundling .Renviron is only a proof-of-concept demo convenience; production should use managed secrets and stronger privacy/logging policies.</a:t>
            </a:r>
            <a:endParaRPr lang="en-US" dirty="0"/>
          </a:p>
          <a:p>
            <a:r>
              <a:rPr lang="en-US" dirty="0"/>
              <a:t>For public deployment, textbook and visual permissions matter. Recreated visuals are safer, but source-backed RAG requires permission-cleared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central takeaway: the value is the guarded workflow, not just a chatbot interface.</a:t>
            </a:r>
            <a:endParaRPr lang="en-US" dirty="0"/>
          </a:p>
          <a:p>
            <a:r>
              <a:rPr lang="en-US" dirty="0"/>
              <a:t>Mention the reproducibility story: GitHub contains the code, tutorial, audits, public-safe demo corpus, deploy-safe visuals, and setup checks.</a:t>
            </a:r>
            <a:endParaRPr lang="en-US" dirty="0"/>
          </a:p>
          <a:p>
            <a:r>
              <a:rPr lang="en-US" dirty="0"/>
              <a:t>Restate the source boundary: local permission-cleared materials can support textbook/course RAG, but the public repository avoids redistributing copyrighted or private course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83696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9A8A"/>
          </a:solidFill>
          <a:ln w="12700">
            <a:solidFill>
              <a:srgbClr val="1F9A8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658368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DDF5EF"/>
          </a:solidFill>
          <a:ln w="12700">
            <a:solidFill>
              <a:srgbClr val="DDF5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74980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6BB2"/>
                </a:solidFill>
                <a:latin typeface="Calibri"/>
              </a:rPr>
              <a:t>STAT 6395 Final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4600" b="1">
                <a:solidFill>
                  <a:srgbClr val="1F3152"/>
                </a:solidFill>
                <a:latin typeface="Calibri"/>
              </a:rPr>
              <a:t>Introduction to Statistics
Study App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04672" y="29718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2200">
                <a:solidFill>
                  <a:srgbClr val="4B5569"/>
                </a:solidFill>
                <a:latin typeface="Calibri"/>
              </a:rPr>
              <a:t>A module-based Shiny practice app with retrieval-augmented tutoring, answer-safety guardrails, and visual explanations.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4672" y="5715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300" dirty="0">
                <a:solidFill>
                  <a:srgbClr val="4B5569"/>
                </a:solidFill>
                <a:latin typeface="Calibri"/>
              </a:rPr>
              <a:t>Zaid Ghazi  |  R/Shiny • Claude/ellmer • RAG • vitals</a:t>
            </a:r>
            <a:endParaRPr lang="en-US" sz="12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83696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students need help while practicing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questions are fast, but they do not explain; generic chat is flexible, but hard to control.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96696" y="1874520"/>
            <a:ext cx="585216" cy="585216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202082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B63"/>
                </a:solidFill>
              </a:rPr>
              <a:t>1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05840" y="2706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63"/>
                </a:solidFill>
              </a:rPr>
              <a:t>Static practice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64748B"/>
                </a:solidFill>
              </a:rPr>
              <a:t>Fast checks, limited explanation.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4526280" y="160020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45736" y="1874520"/>
            <a:ext cx="585216" cy="585216"/>
          </a:xfrm>
          <a:prstGeom prst="ellipse">
            <a:avLst/>
          </a:prstGeom>
          <a:solidFill>
            <a:srgbClr val="FEECEB"/>
          </a:solidFill>
          <a:ln w="12700">
            <a:solidFill>
              <a:srgbClr val="FEEC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202082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B63"/>
                </a:solidFill>
              </a:rPr>
              <a:t>2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54880" y="2706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63"/>
                </a:solidFill>
              </a:rPr>
              <a:t>Generic chatbot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64748B"/>
                </a:solidFill>
              </a:rPr>
              <a:t>Flexible, but may hallucinate or give away answers.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8275320" y="160020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94776" y="1874520"/>
            <a:ext cx="585216" cy="585216"/>
          </a:xfrm>
          <a:prstGeom prst="ellipse">
            <a:avLst/>
          </a:prstGeom>
          <a:solidFill>
            <a:srgbClr val="DDF5EF"/>
          </a:solidFill>
          <a:ln w="12700">
            <a:solidFill>
              <a:srgbClr val="DDF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94776" y="202082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B63"/>
                </a:solidFill>
              </a:rPr>
              <a:t>3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503920" y="2706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63"/>
                </a:solidFill>
              </a:rPr>
              <a:t>This app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0392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64748B"/>
                </a:solidFill>
              </a:rPr>
              <a:t>Guided practice with grounded, answer-safe support.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1325880" y="5257800"/>
            <a:ext cx="9509760" cy="566928"/>
          </a:xfrm>
          <a:prstGeom prst="roundRect">
            <a:avLst>
              <a:gd name="adj" fmla="val 12903"/>
            </a:avLst>
          </a:prstGeom>
          <a:solidFill>
            <a:srgbClr val="243B63"/>
          </a:solidFill>
          <a:ln w="12700">
            <a:solidFill>
              <a:srgbClr val="243B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544068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Design goal: help students reason through questions without turning the tutor into an answer machine.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66928" y="6382512"/>
            <a:ext cx="107442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83696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does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proof-of-concept learning workflow for college introductory statistics.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24712" y="1709928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DDF5EF"/>
          </a:solidFill>
          <a:ln w="12700">
            <a:solidFill>
              <a:srgbClr val="DDF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97864" y="179679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63"/>
                </a:solidFill>
              </a:rPr>
              <a:t>Module-based practice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24712" y="222199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Students choose one or more modules, including cumulative review.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1508760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11112" y="1709928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84264" y="179679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63"/>
                </a:solidFill>
              </a:rPr>
              <a:t>Audited question bank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11112" y="222199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Questions, options, answers, and feedback are checked before use.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611880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24712" y="3813048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7864" y="389991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63"/>
                </a:solidFill>
              </a:rPr>
              <a:t>Contextual tutor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24712" y="4325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Students can ask for hints, concept explanations, or visual follow-ups while practicing.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3611880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11112" y="3813048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389991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63"/>
                </a:solidFill>
              </a:rPr>
              <a:t>Prototype personalization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11112" y="4325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Progress and review-sheet tabs show future adaptive-learning directions.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" y="5577840"/>
            <a:ext cx="10058400" cy="530352"/>
          </a:xfrm>
          <a:prstGeom prst="roundRect">
            <a:avLst>
              <a:gd name="adj" fmla="val 13793"/>
            </a:avLst>
          </a:prstGeom>
          <a:solidFill>
            <a:srgbClr val="DDF5EF"/>
          </a:solidFill>
          <a:ln w="12700">
            <a:solidFill>
              <a:srgbClr val="DDF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5742432"/>
            <a:ext cx="9692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243B63"/>
                </a:solidFill>
              </a:rPr>
              <a:t>The app is intentionally a proof of concept: it demonstrates the architecture and workflow rather than claiming full classroom deployment.</a:t>
            </a:r>
            <a:endParaRPr lang="en-US" sz="1330" dirty="0"/>
          </a:p>
        </p:txBody>
      </p:sp>
      <p:sp>
        <p:nvSpPr>
          <p:cNvPr id="24" name="Shape 22"/>
          <p:cNvSpPr/>
          <p:nvPr/>
        </p:nvSpPr>
        <p:spPr>
          <a:xfrm>
            <a:off x="566928" y="6382512"/>
            <a:ext cx="107442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83696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loop stays simple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practice is deterministic; GenAI is only used where explanation adds value.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868680" y="155448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41832" y="1627632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module(s)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88920" y="155448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DDF5E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62072" y="1627632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from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bank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82312" y="1627632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practice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29400" y="155448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02552" y="1627632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49640" y="155448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22792" y="1627632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286000" y="1874520"/>
            <a:ext cx="50292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06240" y="1874520"/>
            <a:ext cx="50292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1874520"/>
            <a:ext cx="50292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46720" y="1874520"/>
            <a:ext cx="50292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09160" y="324612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82312" y="3319272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tutor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stuck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324612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02552" y="3319272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549640" y="324612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7E6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22792" y="3319272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549640" y="470916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DDF5E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22792" y="4782312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tutor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22392" y="2194560"/>
            <a:ext cx="0" cy="1024128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26480" y="3566160"/>
            <a:ext cx="50292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046720" y="3566160"/>
            <a:ext cx="50292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262872" y="3886200"/>
            <a:ext cx="0" cy="795528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51560" y="580644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9A8A"/>
                </a:solidFill>
              </a:rPr>
              <a:t>Key point for the audience: this is not one giant chatbot. It is a practice app with a controlled LLM support layer.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566928" y="6382512"/>
            <a:ext cx="107442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83696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ROLE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selective, not the whole engine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0" y="141732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7373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63"/>
                </a:solidFill>
              </a:rPr>
              <a:t>Fast / local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8992" y="22402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selection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1078992" y="27157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checking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1078992" y="31912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feedback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1078992" y="366674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R-rendered visuals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1078992" y="414223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and smoke tests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6583680" y="17373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63"/>
                </a:solidFill>
              </a:rPr>
              <a:t>LLM-assisted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11112" y="22402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explanations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611112" y="27157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6611112" y="31912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tutor and visual explanations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6611112" y="366674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development-time question generation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611112" y="414223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vitals-style evaluation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1325880" y="5806440"/>
            <a:ext cx="9464040" cy="438912"/>
          </a:xfrm>
          <a:prstGeom prst="roundRect">
            <a:avLst>
              <a:gd name="adj" fmla="val 16667"/>
            </a:avLst>
          </a:prstGeom>
          <a:solidFill>
            <a:srgbClr val="DDF5EF"/>
          </a:solidFill>
          <a:ln w="12700">
            <a:solidFill>
              <a:srgbClr val="DDF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5943600"/>
            <a:ext cx="9098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B63"/>
                </a:solidFill>
              </a:rPr>
              <a:t>Result: fewer unnecessary API calls, better latency, and more predictable behavior.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6382512"/>
            <a:ext cx="107442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83696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keeps tutoring grounded in course-aligned evidence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DDF5E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444752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request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77640" y="152704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hint, concept, visual, or follow-up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40280" y="1874520"/>
            <a:ext cx="0" cy="30175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8680" y="21945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41832" y="2267712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question context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77640" y="235000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module, topic, concept tag, prompt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40280" y="2697480"/>
            <a:ext cx="0" cy="30175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8680" y="30175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" y="3090672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normalization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77640" y="317296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aliases, notation, misspellings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240280" y="3520440"/>
            <a:ext cx="0" cy="30175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8680" y="38404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1832" y="3913632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+ rerank evidence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77640" y="399592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module/concept match; textbook first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240280" y="4343400"/>
            <a:ext cx="0" cy="30175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8680" y="46634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41832" y="4736592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tutor prompt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77640" y="481888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use evidence and stay answer-safe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321040" y="1371600"/>
            <a:ext cx="3063240" cy="3794760"/>
          </a:xfrm>
          <a:prstGeom prst="roundRect">
            <a:avLst>
              <a:gd name="adj" fmla="val 2388"/>
            </a:avLst>
          </a:prstGeom>
          <a:solidFill>
            <a:srgbClr val="F1F5FC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77072" y="1709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B63"/>
                </a:solidFill>
              </a:rPr>
              <a:t>Why it mattered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577072" y="23317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E293B"/>
                </a:solidFill>
              </a:rPr>
              <a:t>Uses textbook-first evidence, not model memory.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8577072" y="34747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E293B"/>
                </a:solidFill>
              </a:rPr>
              <a:t>Local course materials stay as optional overlays; public repo keeps them out.</a:t>
            </a:r>
            <a:endParaRPr lang="en-US" sz="1420" dirty="0"/>
          </a:p>
        </p:txBody>
      </p:sp>
      <p:sp>
        <p:nvSpPr>
          <p:cNvPr id="28" name="Shape 26"/>
          <p:cNvSpPr/>
          <p:nvPr/>
        </p:nvSpPr>
        <p:spPr>
          <a:xfrm>
            <a:off x="566928" y="6382512"/>
            <a:ext cx="107442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83696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GUARDRAILS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Helpful, but not answer-giving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3108960" cy="1078992"/>
          </a:xfrm>
          <a:prstGeom prst="roundRect">
            <a:avLst>
              <a:gd name="adj" fmla="val 6780"/>
            </a:avLst>
          </a:prstGeom>
          <a:solidFill>
            <a:srgbClr val="FFF7E6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399032"/>
            <a:ext cx="29626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reveal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26280" y="1325880"/>
            <a:ext cx="3108960" cy="1078992"/>
          </a:xfrm>
          <a:prstGeom prst="roundRect">
            <a:avLst>
              <a:gd name="adj" fmla="val 6780"/>
            </a:avLst>
          </a:prstGeom>
          <a:solidFill>
            <a:srgbClr val="DDF5E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1399032"/>
            <a:ext cx="29626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grounded in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evidence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38160" y="1325880"/>
            <a:ext cx="3108960" cy="1078992"/>
          </a:xfrm>
          <a:prstGeom prst="roundRect">
            <a:avLst>
              <a:gd name="adj" fmla="val 6780"/>
            </a:avLst>
          </a:prstGeom>
          <a:solidFill>
            <a:srgbClr val="EAF1FB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11312" y="1399032"/>
            <a:ext cx="29626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help tied 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question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9992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B63"/>
                </a:solidFill>
              </a:rPr>
              <a:t>Tutor response pipeline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8680" y="36118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41832" y="3685032"/>
            <a:ext cx="1728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or stored hint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91840" y="36118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7E6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64992" y="3685032"/>
            <a:ext cx="1728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Answer-leak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15000" y="36118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88152" y="3685032"/>
            <a:ext cx="1728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when needed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36118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DDF5E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11312" y="3685032"/>
            <a:ext cx="1728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Student-facing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0" y="3931920"/>
            <a:ext cx="5486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66360" y="3931920"/>
            <a:ext cx="5486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9520" y="3931920"/>
            <a:ext cx="5486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60120" y="516636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3B63"/>
                </a:solidFill>
              </a:rPr>
              <a:t>This was the central design tension: students need useful help, but the app should not simply reveal the stored answer.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566928" y="6382512"/>
            <a:ext cx="107442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83696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LAYER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bank needed as much engineering as the tutor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1353312"/>
            <a:ext cx="2880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71907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9A8A"/>
                </a:solidFill>
              </a:rPr>
              <a:t>450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215798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practice questions audited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86200" y="1353312"/>
            <a:ext cx="2880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69080" y="171907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069080" y="215798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answer-option issues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95160" y="1353312"/>
            <a:ext cx="2880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78040" y="171907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82D8"/>
                </a:solidFill>
              </a:rPr>
              <a:t>PASS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78040" y="215798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smoke-test result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749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63"/>
                </a:solidFill>
              </a:rPr>
              <a:t>Quality checks included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416052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3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questions and duplicate options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841248" y="452628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3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invalid answer keys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41248" y="489204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3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module/topic mismatches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841248" y="525780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3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or repetitive feedback explanations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841248" y="562356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3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that were irrelevant or forced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6446520" y="3749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63"/>
                </a:solidFill>
              </a:rPr>
              <a:t>Visual + reproducibility strategy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73952" y="4160520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3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R/ggplot or recreated visuals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6473952" y="454456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3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visuals only when relevant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6473952" y="4928616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3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copying textbook figures into the repo</a:t>
            </a:r>
            <a:endParaRPr lang="en-US" sz="1380" dirty="0"/>
          </a:p>
        </p:txBody>
      </p:sp>
      <p:sp>
        <p:nvSpPr>
          <p:cNvPr id="24" name="Text 22"/>
          <p:cNvSpPr/>
          <p:nvPr/>
        </p:nvSpPr>
        <p:spPr>
          <a:xfrm>
            <a:off x="6473952" y="5312664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3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renv, CI, and public-safe demo corpus</a:t>
            </a:r>
            <a:endParaRPr lang="en-US" sz="1380" dirty="0"/>
          </a:p>
        </p:txBody>
      </p:sp>
      <p:sp>
        <p:nvSpPr>
          <p:cNvPr id="25" name="Shape 23"/>
          <p:cNvSpPr/>
          <p:nvPr/>
        </p:nvSpPr>
        <p:spPr>
          <a:xfrm>
            <a:off x="566928" y="6382512"/>
            <a:ext cx="107442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83696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path: one student practice session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app demonstration will show the product; slides only anchor what to look for.</a:t>
            </a:r>
            <a:endParaRPr lang="en-US" sz="134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384048" cy="384048"/>
          </a:xfrm>
          <a:prstGeom prst="ellipse">
            <a:avLst/>
          </a:prstGeom>
          <a:solidFill>
            <a:srgbClr val="1F9A8A"/>
          </a:solidFill>
          <a:ln w="12700">
            <a:solidFill>
              <a:srgbClr val="1F9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35608" y="13990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43B63"/>
                </a:solidFill>
              </a:rPr>
              <a:t>Open app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435608" y="17282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</a:rPr>
              <a:t>no login or role selection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868680" y="2496312"/>
            <a:ext cx="384048" cy="384048"/>
          </a:xfrm>
          <a:prstGeom prst="ellipse">
            <a:avLst/>
          </a:prstGeom>
          <a:solidFill>
            <a:srgbClr val="1F9A8A"/>
          </a:solidFill>
          <a:ln w="12700">
            <a:solidFill>
              <a:srgbClr val="1F9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877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35608" y="24780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43B63"/>
                </a:solidFill>
              </a:rPr>
              <a:t>Choose module cards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435608" y="280720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</a:rPr>
              <a:t>one or more modules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868680" y="3575304"/>
            <a:ext cx="384048" cy="384048"/>
          </a:xfrm>
          <a:prstGeom prst="ellipse">
            <a:avLst/>
          </a:prstGeom>
          <a:solidFill>
            <a:srgbClr val="1F9A8A"/>
          </a:solidFill>
          <a:ln w="12700">
            <a:solidFill>
              <a:srgbClr val="1F9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6674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35608" y="35570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43B63"/>
                </a:solidFill>
              </a:rPr>
              <a:t>Answer a question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35608" y="38862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</a:rPr>
              <a:t>see immediate feedback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355080" y="1417320"/>
            <a:ext cx="384048" cy="384048"/>
          </a:xfrm>
          <a:prstGeom prst="ellipse">
            <a:avLst/>
          </a:prstGeom>
          <a:solidFill>
            <a:srgbClr val="1F9A8A"/>
          </a:solidFill>
          <a:ln w="12700">
            <a:solidFill>
              <a:srgbClr val="1F9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5087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22008" y="13990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43B63"/>
                </a:solidFill>
              </a:rPr>
              <a:t>Ask tutor for help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6922008" y="17282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</a:rPr>
              <a:t>hint, concept, or visual follow-up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355080" y="2496312"/>
            <a:ext cx="384048" cy="384048"/>
          </a:xfrm>
          <a:prstGeom prst="ellipse">
            <a:avLst/>
          </a:prstGeom>
          <a:solidFill>
            <a:srgbClr val="1F9A8A"/>
          </a:solidFill>
          <a:ln w="12700">
            <a:solidFill>
              <a:srgbClr val="1F9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5877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22008" y="24780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43B63"/>
                </a:solidFill>
              </a:rPr>
              <a:t>Ask for visual support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6922008" y="280720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</a:rPr>
              <a:t>only if useful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355080" y="3575304"/>
            <a:ext cx="384048" cy="384048"/>
          </a:xfrm>
          <a:prstGeom prst="ellipse">
            <a:avLst/>
          </a:prstGeom>
          <a:solidFill>
            <a:srgbClr val="1F9A8A"/>
          </a:solidFill>
          <a:ln w="12700">
            <a:solidFill>
              <a:srgbClr val="1F9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66674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22008" y="35570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43B63"/>
                </a:solidFill>
              </a:rPr>
              <a:t>Preview progress/review sheet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6922008" y="38862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</a:rPr>
              <a:t>prototype personalization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1234440" y="5257800"/>
            <a:ext cx="9646920" cy="603504"/>
          </a:xfrm>
          <a:prstGeom prst="roundRect">
            <a:avLst>
              <a:gd name="adj" fmla="val 12121"/>
            </a:avLst>
          </a:prstGeom>
          <a:solidFill>
            <a:srgbClr val="243B63"/>
          </a:solidFill>
          <a:ln w="12700">
            <a:solidFill>
              <a:srgbClr val="243B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08760" y="5449824"/>
            <a:ext cx="9098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If the API is slow, I will use screenshots as backup â€” but the intended demo is live.</a:t>
            </a:r>
            <a:endParaRPr lang="en-US" sz="1420" dirty="0"/>
          </a:p>
        </p:txBody>
      </p:sp>
      <p:sp>
        <p:nvSpPr>
          <p:cNvPr id="32" name="Shape 30"/>
          <p:cNvSpPr/>
          <p:nvPr/>
        </p:nvSpPr>
        <p:spPr>
          <a:xfrm>
            <a:off x="566928" y="6382512"/>
            <a:ext cx="107442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83696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ROADBLOCKS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this harder than a simple chatbot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498348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24712" y="163677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63"/>
                </a:solidFill>
              </a:rPr>
              <a:t>Latency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24712" y="203911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4748B"/>
                </a:solidFill>
              </a:rPr>
              <a:t>Tutor requests may involve retrieval, an LLM call, safety checks, and visual rendering.</a:t>
            </a:r>
            <a:endParaRPr lang="en-US" sz="134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498348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8232" y="163677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63"/>
                </a:solidFill>
              </a:rPr>
              <a:t>Question quality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28232" y="203911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4748B"/>
                </a:solidFill>
              </a:rPr>
              <a:t>Generated content needed audits for duplicates, weak explanations, and wrong metadata.</a:t>
            </a:r>
            <a:endParaRPr lang="en-US" sz="1340" dirty="0"/>
          </a:p>
        </p:txBody>
      </p:sp>
      <p:sp>
        <p:nvSpPr>
          <p:cNvPr id="11" name="Shape 9"/>
          <p:cNvSpPr/>
          <p:nvPr/>
        </p:nvSpPr>
        <p:spPr>
          <a:xfrm>
            <a:off x="868680" y="3547872"/>
            <a:ext cx="498348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24712" y="37673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63"/>
                </a:solidFill>
              </a:rPr>
              <a:t>Visual relevance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24712" y="41696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4748B"/>
                </a:solidFill>
              </a:rPr>
              <a:t>Visuals helped only when the student request and current concept were both considered.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6172200" y="3547872"/>
            <a:ext cx="498348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28232" y="37673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B63"/>
                </a:solidFill>
              </a:rPr>
              <a:t>Grounding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28232" y="41696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4748B"/>
                </a:solidFill>
              </a:rPr>
              <a:t>RAG helped, but retrieval still needed module and concept awareness.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914400" y="580644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9A8A"/>
                </a:solidFill>
              </a:rPr>
              <a:t>Main lesson: educational AI needs product logic, retrieval design, evaluation, and content audits around the model.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66928" y="6382512"/>
            <a:ext cx="107442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83696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best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1234440"/>
            <a:ext cx="10287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62456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43B63"/>
                </a:solidFill>
              </a:rPr>
              <a:t>Prebuilt question bank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4343400" y="136245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E293B"/>
                </a:solidFill>
              </a:rPr>
              <a:t>kept the practice loop fast and testable</a:t>
            </a:r>
            <a:endParaRPr lang="en-US" sz="1440" dirty="0"/>
          </a:p>
        </p:txBody>
      </p:sp>
      <p:sp>
        <p:nvSpPr>
          <p:cNvPr id="8" name="Shape 6"/>
          <p:cNvSpPr/>
          <p:nvPr/>
        </p:nvSpPr>
        <p:spPr>
          <a:xfrm>
            <a:off x="868680" y="1947672"/>
            <a:ext cx="10287000" cy="457200"/>
          </a:xfrm>
          <a:prstGeom prst="roundRect">
            <a:avLst>
              <a:gd name="adj" fmla="val 16000"/>
            </a:avLst>
          </a:prstGeom>
          <a:solidFill>
            <a:srgbClr val="F1F5FC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7568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43B63"/>
                </a:solidFill>
              </a:rPr>
              <a:t>Current-question context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4343400" y="2075688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E293B"/>
                </a:solidFill>
              </a:rPr>
              <a:t>made tutor responses more relevant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868680" y="2660904"/>
            <a:ext cx="10287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8892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43B63"/>
                </a:solidFill>
              </a:rPr>
              <a:t>RAG + reranking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4343400" y="2788920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E293B"/>
                </a:solidFill>
              </a:rPr>
              <a:t>reduced reliance on generic model memory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868680" y="3374136"/>
            <a:ext cx="10287000" cy="457200"/>
          </a:xfrm>
          <a:prstGeom prst="roundRect">
            <a:avLst>
              <a:gd name="adj" fmla="val 16000"/>
            </a:avLst>
          </a:prstGeom>
          <a:solidFill>
            <a:srgbClr val="F1F5FC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502152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43B63"/>
                </a:solidFill>
              </a:rPr>
              <a:t>Audits + smoke tests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4343400" y="3502152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E293B"/>
                </a:solidFill>
              </a:rPr>
              <a:t>caught content and routing issues before the demo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868680" y="4087368"/>
            <a:ext cx="10287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215384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43B63"/>
                </a:solidFill>
              </a:rPr>
              <a:t>R-rendered visuals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4343400" y="4215384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E293B"/>
                </a:solidFill>
              </a:rPr>
              <a:t>kept explanations visual, relevant, and deploy-safe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868680" y="4800600"/>
            <a:ext cx="10287000" cy="457200"/>
          </a:xfrm>
          <a:prstGeom prst="roundRect">
            <a:avLst>
              <a:gd name="adj" fmla="val 16000"/>
            </a:avLst>
          </a:prstGeom>
          <a:solidFill>
            <a:srgbClr val="F1F5FC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28616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43B63"/>
                </a:solidFill>
              </a:rPr>
              <a:t>Guardrails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4343400" y="492861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E293B"/>
                </a:solidFill>
              </a:rPr>
              <a:t>kept the tutor helpful without becoming the answer key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566928" y="6382512"/>
            <a:ext cx="107442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83696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production version would need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1645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158191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Shiny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17520" y="1508760"/>
            <a:ext cx="1645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90672" y="158191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API-key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257800" y="1508760"/>
            <a:ext cx="1645920" cy="694944"/>
          </a:xfrm>
          <a:prstGeom prst="roundRect">
            <a:avLst>
              <a:gd name="adj" fmla="val 10526"/>
            </a:avLst>
          </a:prstGeom>
          <a:solidFill>
            <a:srgbClr val="DDF5E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30952" y="158191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98080" y="1508760"/>
            <a:ext cx="1645920" cy="694944"/>
          </a:xfrm>
          <a:prstGeom prst="roundRect">
            <a:avLst>
              <a:gd name="adj" fmla="val 10526"/>
            </a:avLst>
          </a:prstGeom>
          <a:solidFill>
            <a:srgbClr val="EAF1FB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71232" y="158191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738360" y="1508760"/>
            <a:ext cx="1645920" cy="694944"/>
          </a:xfrm>
          <a:prstGeom prst="roundRect">
            <a:avLst>
              <a:gd name="adj" fmla="val 10526"/>
            </a:avLst>
          </a:prstGeom>
          <a:solidFill>
            <a:srgbClr val="FFF7E6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811512" y="158191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423160" y="1856232"/>
            <a:ext cx="59436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63440" y="1856232"/>
            <a:ext cx="59436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03720" y="1856232"/>
            <a:ext cx="59436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0" y="1856232"/>
            <a:ext cx="59436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68680" y="29718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B63"/>
                </a:solidFill>
              </a:rPr>
              <a:t>Next feature extensions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14400" y="34290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accounts and secure progress tracking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914400" y="381304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dashboard for weak-concept patterns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914400" y="419709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reviewed question bank and item analytics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914400" y="458114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retrieval / reranking pipeline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914400" y="496519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ingestion pipeline for licensed or open course materials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7178040" y="2971800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2700" dist="50800" dir="2700000">
              <a:srgbClr val="D4DCE8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52360" y="32918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63"/>
                </a:solidFill>
              </a:rPr>
              <a:t>Latency plan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52360" y="3840480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E293B"/>
                </a:solidFill>
              </a:rPr>
              <a:t>Cache common tutor responses, stream model output, and route simple help requests to faster models.</a:t>
            </a:r>
            <a:endParaRPr lang="en-US" sz="1340" dirty="0"/>
          </a:p>
        </p:txBody>
      </p:sp>
      <p:sp>
        <p:nvSpPr>
          <p:cNvPr id="28" name="Shape 26"/>
          <p:cNvSpPr/>
          <p:nvPr/>
        </p:nvSpPr>
        <p:spPr>
          <a:xfrm>
            <a:off x="566928" y="6382512"/>
            <a:ext cx="107442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83696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the guarded workflow, not just the chatbot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43B63"/>
                </a:solidFill>
              </a:rPr>
              <a:t>This project shows how LLMs can add value to a statistics learning workflow when they are grounded, constrained, and paired with traditional engineering tools: an audited question bank, R-rendered visuals, automated tests, and reproducible setup.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60120" y="2587752"/>
            <a:ext cx="10195560" cy="777240"/>
          </a:xfrm>
          <a:prstGeom prst="roundRect">
            <a:avLst>
              <a:gd name="adj" fmla="val 9412"/>
            </a:avLst>
          </a:prstGeom>
          <a:solidFill>
            <a:srgbClr val="DDF5EF"/>
          </a:solidFill>
          <a:ln w="12700">
            <a:solidFill>
              <a:srgbClr val="DDF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852928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80" b="1" dirty="0">
                <a:solidFill>
                  <a:srgbClr val="243B63"/>
                </a:solidFill>
              </a:rPr>
              <a:t>Final message: AI-supported guided practice, not AI-as-answer-key.</a:t>
            </a:r>
            <a:endParaRPr lang="en-US" sz="188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63"/>
                </a:solidFill>
              </a:rPr>
              <a:t>References / resources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Shiny and Quarto documentation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ellmer and Anthropic Claude API documentation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package for LLM evaluation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914400" y="530352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lectures on RAG, LLM applications, and tool use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914400" y="557784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statistics textbook/course materials used as local scope guide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914400" y="58521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4D8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ZaidGhazi/Intro-to-Statistics-Study-App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566928" y="6382512"/>
            <a:ext cx="107442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Southern Methodist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Statistics Study App</dc:title>
  <dc:subject>STAT 6395 Final Project Presentation</dc:subject>
  <dc:creator>Zaid Ghazi</dc:creator>
  <cp:lastModifiedBy>Zaid Ghazi</cp:lastModifiedBy>
  <cp:revision>1</cp:revision>
  <dcterms:created xsi:type="dcterms:W3CDTF">2026-05-09T23:53:24Z</dcterms:created>
  <dcterms:modified xsi:type="dcterms:W3CDTF">2026-05-09T23:53:24Z</dcterms:modified>
</cp:coreProperties>
</file>